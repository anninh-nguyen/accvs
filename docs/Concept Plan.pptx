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j6h7OlJCk6yi/eFO97c9Do7n3R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5183188" y="987425"/>
            <a:ext cx="6172200" cy="4873625"/>
          </a:xfrm>
          <a:prstGeom prst="rect">
            <a:avLst/>
          </a:prstGeom>
          <a:noFill/>
          <a:ln>
            <a:noFill/>
          </a:ln>
        </p:spPr>
      </p:sp>
      <p:sp>
        <p:nvSpPr>
          <p:cNvPr id="64" name="Google Shape;64;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idx="1" type="subTitle"/>
          </p:nvPr>
        </p:nvSpPr>
        <p:spPr>
          <a:xfrm>
            <a:off x="1524000" y="2600960"/>
            <a:ext cx="9144000" cy="265684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chemeClr val="dk1"/>
              </a:buClr>
              <a:buSzPct val="100000"/>
              <a:buNone/>
            </a:pPr>
            <a:r>
              <a:rPr b="1" lang="en-US" sz="2800"/>
              <a:t>Advanced Project in Robotics</a:t>
            </a:r>
            <a:endParaRPr/>
          </a:p>
          <a:p>
            <a:pPr indent="0" lvl="0" marL="0" rtl="0" algn="ctr">
              <a:lnSpc>
                <a:spcPct val="90000"/>
              </a:lnSpc>
              <a:spcBef>
                <a:spcPts val="100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US"/>
              <a:t> </a:t>
            </a:r>
            <a:r>
              <a:rPr b="1" lang="en-US"/>
              <a:t>Concept Plan for  An Automated Crane–Conveyor–Vehicle System (ACCVS).</a:t>
            </a:r>
            <a:endParaRPr/>
          </a:p>
          <a:p>
            <a:pPr indent="0" lvl="0" marL="0" rtl="0" algn="ctr">
              <a:lnSpc>
                <a:spcPct val="90000"/>
              </a:lnSpc>
              <a:spcBef>
                <a:spcPts val="1000"/>
              </a:spcBef>
              <a:spcAft>
                <a:spcPts val="0"/>
              </a:spcAft>
              <a:buClr>
                <a:schemeClr val="dk1"/>
              </a:buClr>
              <a:buSzPct val="100000"/>
              <a:buNone/>
            </a:pPr>
            <a:r>
              <a:t/>
            </a:r>
            <a:endParaRPr/>
          </a:p>
          <a:p>
            <a:pPr indent="0" lvl="0" marL="0" rtl="0" algn="ctr">
              <a:lnSpc>
                <a:spcPct val="90000"/>
              </a:lnSpc>
              <a:spcBef>
                <a:spcPts val="1000"/>
              </a:spcBef>
              <a:spcAft>
                <a:spcPts val="0"/>
              </a:spcAft>
              <a:buClr>
                <a:schemeClr val="dk1"/>
              </a:buClr>
              <a:buSzPct val="100000"/>
              <a:buNone/>
            </a:pPr>
            <a:r>
              <a:rPr lang="en-US"/>
              <a:t>Group Members: Henrietta Okafor, Dimple Dimple, Nguyen An Ninh, Mounaim Errahmouni.</a:t>
            </a:r>
            <a:br>
              <a:rPr lang="en-US"/>
            </a:br>
            <a:endParaRPr/>
          </a:p>
        </p:txBody>
      </p:sp>
      <p:pic>
        <p:nvPicPr>
          <p:cNvPr id="85" name="Google Shape;85;p1"/>
          <p:cNvPicPr preferRelativeResize="0"/>
          <p:nvPr/>
        </p:nvPicPr>
        <p:blipFill rotWithShape="1">
          <a:blip r:embed="rId3">
            <a:alphaModFix/>
          </a:blip>
          <a:srcRect b="0" l="0" r="0" t="0"/>
          <a:stretch/>
        </p:blipFill>
        <p:spPr>
          <a:xfrm>
            <a:off x="3760123" y="355836"/>
            <a:ext cx="4093557" cy="2052084"/>
          </a:xfrm>
          <a:prstGeom prst="rect">
            <a:avLst/>
          </a:prstGeom>
          <a:noFill/>
          <a:ln>
            <a:noFill/>
          </a:ln>
        </p:spPr>
      </p:pic>
      <p:sp>
        <p:nvSpPr>
          <p:cNvPr id="86" name="Google Shape;86;p1"/>
          <p:cNvSpPr txBox="1"/>
          <p:nvPr/>
        </p:nvSpPr>
        <p:spPr>
          <a:xfrm>
            <a:off x="5467148" y="5450840"/>
            <a:ext cx="18865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06.02.2026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idx="1" type="subTitle"/>
          </p:nvPr>
        </p:nvSpPr>
        <p:spPr>
          <a:xfrm>
            <a:off x="1234900" y="772160"/>
            <a:ext cx="10487199" cy="3342640"/>
          </a:xfrm>
          <a:prstGeom prst="rect">
            <a:avLst/>
          </a:prstGeom>
          <a:noFill/>
          <a:ln>
            <a:noFill/>
          </a:ln>
        </p:spPr>
        <p:txBody>
          <a:bodyPr anchorCtr="0" anchor="t" bIns="45700" lIns="91425" spcFirstLastPara="1" rIns="91425" wrap="square" tIns="45700">
            <a:normAutofit fontScale="32500" lnSpcReduction="20000"/>
          </a:bodyPr>
          <a:lstStyle/>
          <a:p>
            <a:pPr indent="-514350" lvl="0" marL="514350" rtl="0" algn="just">
              <a:lnSpc>
                <a:spcPct val="90000"/>
              </a:lnSpc>
              <a:spcBef>
                <a:spcPts val="0"/>
              </a:spcBef>
              <a:spcAft>
                <a:spcPts val="0"/>
              </a:spcAft>
              <a:buClr>
                <a:schemeClr val="dk1"/>
              </a:buClr>
              <a:buSzPct val="100000"/>
              <a:buAutoNum type="arabicPeriod"/>
            </a:pPr>
            <a:r>
              <a:rPr b="1" lang="en-US" sz="11200"/>
              <a:t>Project Overview</a:t>
            </a:r>
            <a:endParaRPr b="1" sz="7400"/>
          </a:p>
          <a:p>
            <a:pPr indent="0" lvl="0" marL="0" rtl="0" algn="just">
              <a:lnSpc>
                <a:spcPct val="170000"/>
              </a:lnSpc>
              <a:spcBef>
                <a:spcPts val="1000"/>
              </a:spcBef>
              <a:spcAft>
                <a:spcPts val="0"/>
              </a:spcAft>
              <a:buClr>
                <a:schemeClr val="dk1"/>
              </a:buClr>
              <a:buSzPct val="100000"/>
              <a:buNone/>
            </a:pPr>
            <a:r>
              <a:rPr lang="en-US" sz="7400"/>
              <a:t>The project aims to design an automated system where a crane picks objects from the ground, places them on a conveyor belt, and transfers them to a vehicle, which then returns to repeat the cycle.</a:t>
            </a:r>
            <a:endParaRPr/>
          </a:p>
          <a:p>
            <a:pPr indent="0" lvl="0" marL="0" rtl="0" algn="just">
              <a:lnSpc>
                <a:spcPct val="90000"/>
              </a:lnSpc>
              <a:spcBef>
                <a:spcPts val="1000"/>
              </a:spcBef>
              <a:spcAft>
                <a:spcPts val="0"/>
              </a:spcAft>
              <a:buClr>
                <a:schemeClr val="dk1"/>
              </a:buClr>
              <a:buSzPct val="100000"/>
              <a:buNone/>
            </a:pPr>
            <a:br>
              <a:rPr lang="en-US"/>
            </a:br>
            <a:endParaRPr/>
          </a:p>
        </p:txBody>
      </p:sp>
      <p:pic>
        <p:nvPicPr>
          <p:cNvPr id="92" name="Google Shape;92;p2"/>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idx="1" type="subTitle"/>
          </p:nvPr>
        </p:nvSpPr>
        <p:spPr>
          <a:xfrm>
            <a:off x="1234900" y="772159"/>
            <a:ext cx="10525299" cy="455061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t/>
            </a:r>
            <a:endParaRPr/>
          </a:p>
        </p:txBody>
      </p:sp>
      <p:pic>
        <p:nvPicPr>
          <p:cNvPr id="98" name="Google Shape;98;p3"/>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pic>
        <p:nvPicPr>
          <p:cNvPr id="99" name="Google Shape;99;p3"/>
          <p:cNvPicPr preferRelativeResize="0"/>
          <p:nvPr/>
        </p:nvPicPr>
        <p:blipFill rotWithShape="1">
          <a:blip r:embed="rId4">
            <a:alphaModFix/>
          </a:blip>
          <a:srcRect b="0" l="0" r="0" t="0"/>
          <a:stretch/>
        </p:blipFill>
        <p:spPr>
          <a:xfrm>
            <a:off x="827773" y="404261"/>
            <a:ext cx="10932425" cy="51110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idx="1" type="subTitle"/>
          </p:nvPr>
        </p:nvSpPr>
        <p:spPr>
          <a:xfrm>
            <a:off x="1234900" y="772160"/>
            <a:ext cx="10525299" cy="339344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3600"/>
              <a:buNone/>
            </a:pPr>
            <a:r>
              <a:rPr b="1" lang="en-US" sz="3600"/>
              <a:t>2. Objectives</a:t>
            </a:r>
            <a:endParaRPr b="1" sz="3300"/>
          </a:p>
          <a:p>
            <a:pPr indent="-342900" lvl="0" marL="342900" rtl="0" algn="just">
              <a:lnSpc>
                <a:spcPct val="90000"/>
              </a:lnSpc>
              <a:spcBef>
                <a:spcPts val="1000"/>
              </a:spcBef>
              <a:spcAft>
                <a:spcPts val="0"/>
              </a:spcAft>
              <a:buClr>
                <a:schemeClr val="dk1"/>
              </a:buClr>
              <a:buSzPts val="2400"/>
              <a:buFont typeface="Arial"/>
              <a:buChar char="•"/>
            </a:pPr>
            <a:r>
              <a:rPr lang="en-US"/>
              <a:t>Automate the loading and transportation process.</a:t>
            </a:r>
            <a:endParaRPr/>
          </a:p>
          <a:p>
            <a:pPr indent="-342900" lvl="0" marL="342900" rtl="0" algn="just">
              <a:lnSpc>
                <a:spcPct val="90000"/>
              </a:lnSpc>
              <a:spcBef>
                <a:spcPts val="1000"/>
              </a:spcBef>
              <a:spcAft>
                <a:spcPts val="0"/>
              </a:spcAft>
              <a:buClr>
                <a:schemeClr val="dk1"/>
              </a:buClr>
              <a:buSzPts val="2400"/>
              <a:buFont typeface="Arial"/>
              <a:buChar char="•"/>
            </a:pPr>
            <a:r>
              <a:rPr lang="en-US"/>
              <a:t>Reduce manual labor and human error.</a:t>
            </a:r>
            <a:endParaRPr/>
          </a:p>
          <a:p>
            <a:pPr indent="-342900" lvl="0" marL="342900" rtl="0" algn="just">
              <a:lnSpc>
                <a:spcPct val="90000"/>
              </a:lnSpc>
              <a:spcBef>
                <a:spcPts val="1000"/>
              </a:spcBef>
              <a:spcAft>
                <a:spcPts val="0"/>
              </a:spcAft>
              <a:buClr>
                <a:schemeClr val="dk1"/>
              </a:buClr>
              <a:buSzPts val="2400"/>
              <a:buFont typeface="Arial"/>
              <a:buChar char="•"/>
            </a:pPr>
            <a:r>
              <a:rPr lang="en-US"/>
              <a:t>Improve efficiency and consistency in material handling.</a:t>
            </a:r>
            <a:endParaRPr/>
          </a:p>
          <a:p>
            <a:pPr indent="0" lvl="0" marL="0" rtl="0" algn="just">
              <a:lnSpc>
                <a:spcPct val="90000"/>
              </a:lnSpc>
              <a:spcBef>
                <a:spcPts val="1000"/>
              </a:spcBef>
              <a:spcAft>
                <a:spcPts val="0"/>
              </a:spcAft>
              <a:buClr>
                <a:schemeClr val="dk1"/>
              </a:buClr>
              <a:buSzPts val="2400"/>
              <a:buNone/>
            </a:pPr>
            <a:br>
              <a:rPr lang="en-US"/>
            </a:br>
            <a:endParaRPr/>
          </a:p>
        </p:txBody>
      </p:sp>
      <p:pic>
        <p:nvPicPr>
          <p:cNvPr id="105" name="Google Shape;105;p4"/>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idx="1" type="subTitle"/>
          </p:nvPr>
        </p:nvSpPr>
        <p:spPr>
          <a:xfrm>
            <a:off x="1234900" y="772159"/>
            <a:ext cx="10525299" cy="495487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90000"/>
              </a:lnSpc>
              <a:spcBef>
                <a:spcPts val="0"/>
              </a:spcBef>
              <a:spcAft>
                <a:spcPts val="0"/>
              </a:spcAft>
              <a:buClr>
                <a:schemeClr val="dk1"/>
              </a:buClr>
              <a:buSzPct val="100000"/>
              <a:buNone/>
            </a:pPr>
            <a:r>
              <a:rPr b="1" lang="en-US" sz="3600"/>
              <a:t>3</a:t>
            </a:r>
            <a:r>
              <a:rPr b="1" lang="en-US" sz="5100"/>
              <a:t>. System Components</a:t>
            </a:r>
            <a:endParaRPr/>
          </a:p>
          <a:p>
            <a:pPr indent="-342931" lvl="0" marL="342900" rtl="0" algn="l">
              <a:lnSpc>
                <a:spcPct val="120000"/>
              </a:lnSpc>
              <a:spcBef>
                <a:spcPts val="1000"/>
              </a:spcBef>
              <a:spcAft>
                <a:spcPts val="0"/>
              </a:spcAft>
              <a:buClr>
                <a:schemeClr val="dk1"/>
              </a:buClr>
              <a:buSzPct val="100000"/>
              <a:buFont typeface="Arial"/>
              <a:buChar char="•"/>
            </a:pPr>
            <a:r>
              <a:rPr b="1" lang="en-US" sz="3100"/>
              <a:t>Crane:</a:t>
            </a:r>
            <a:br>
              <a:rPr lang="en-US" sz="3100"/>
            </a:br>
            <a:r>
              <a:rPr lang="en-US" sz="3100"/>
              <a:t>Grabs and lifts objects from the ground using a robotic manipulator equipped with joint position sensors for motion control, a touch sensor in the gripper to confirm successful grasping, and a distance sensor or camera to detect the object’s position.</a:t>
            </a:r>
            <a:endParaRPr/>
          </a:p>
          <a:p>
            <a:pPr indent="-342931" lvl="0" marL="342900" rtl="0" algn="l">
              <a:lnSpc>
                <a:spcPct val="120000"/>
              </a:lnSpc>
              <a:spcBef>
                <a:spcPts val="1000"/>
              </a:spcBef>
              <a:spcAft>
                <a:spcPts val="0"/>
              </a:spcAft>
              <a:buClr>
                <a:schemeClr val="dk1"/>
              </a:buClr>
              <a:buSzPct val="100000"/>
              <a:buFont typeface="Arial"/>
              <a:buChar char="•"/>
            </a:pPr>
            <a:r>
              <a:rPr b="1" lang="en-US" sz="3100"/>
              <a:t>Conveyor Belt:</a:t>
            </a:r>
            <a:br>
              <a:rPr lang="en-US" sz="3100"/>
            </a:br>
            <a:r>
              <a:rPr lang="en-US" sz="3100"/>
              <a:t>Transports objects from the crane to the vehicle using motorized rollers controlled by motor encoders for speed regulation and a distance or light sensor at the end of the belt to detect object arrival.</a:t>
            </a:r>
            <a:endParaRPr/>
          </a:p>
          <a:p>
            <a:pPr indent="0" lvl="0" marL="0" rtl="0" algn="just">
              <a:lnSpc>
                <a:spcPct val="90000"/>
              </a:lnSpc>
              <a:spcBef>
                <a:spcPts val="1000"/>
              </a:spcBef>
              <a:spcAft>
                <a:spcPts val="0"/>
              </a:spcAft>
              <a:buClr>
                <a:schemeClr val="dk1"/>
              </a:buClr>
              <a:buSzPct val="100000"/>
              <a:buNone/>
            </a:pPr>
            <a:br>
              <a:rPr lang="en-US" sz="3100"/>
            </a:br>
            <a:endParaRPr sz="3100"/>
          </a:p>
        </p:txBody>
      </p:sp>
      <p:pic>
        <p:nvPicPr>
          <p:cNvPr id="111" name="Google Shape;111;p5"/>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idx="1" type="subTitle"/>
          </p:nvPr>
        </p:nvSpPr>
        <p:spPr>
          <a:xfrm>
            <a:off x="1234900" y="772159"/>
            <a:ext cx="10525299" cy="4550611"/>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Arial"/>
              <a:buChar char="•"/>
            </a:pPr>
            <a:r>
              <a:rPr b="1" lang="en-US"/>
              <a:t>Vehicle:</a:t>
            </a:r>
            <a:br>
              <a:rPr lang="en-US"/>
            </a:br>
            <a:r>
              <a:rPr lang="en-US"/>
              <a:t>Receives the object and pushes it back toward the crane using proximity or distance sensors to detect the object, wheel encoders for movement control, and an optional touch sensor to confirm contact during pushing.</a:t>
            </a:r>
            <a:endParaRPr/>
          </a:p>
          <a:p>
            <a:pPr indent="-342900" lvl="0" marL="342900" rtl="0" algn="l">
              <a:lnSpc>
                <a:spcPct val="100000"/>
              </a:lnSpc>
              <a:spcBef>
                <a:spcPts val="1000"/>
              </a:spcBef>
              <a:spcAft>
                <a:spcPts val="0"/>
              </a:spcAft>
              <a:buClr>
                <a:schemeClr val="dk1"/>
              </a:buClr>
              <a:buSzPts val="2400"/>
              <a:buFont typeface="Arial"/>
              <a:buChar char="•"/>
            </a:pPr>
            <a:r>
              <a:rPr b="1" lang="en-US"/>
              <a:t>Control System:</a:t>
            </a:r>
            <a:br>
              <a:rPr lang="en-US"/>
            </a:br>
            <a:r>
              <a:rPr lang="en-US"/>
              <a:t>Coordinates the movements and timing of all components using a sensor-based control logic, such as a finite-state machine (FSM), to enable synchronized and repetitive operation.</a:t>
            </a:r>
            <a:endParaRPr/>
          </a:p>
        </p:txBody>
      </p:sp>
      <p:pic>
        <p:nvPicPr>
          <p:cNvPr id="117" name="Google Shape;117;p6"/>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idx="1" type="subTitle"/>
          </p:nvPr>
        </p:nvSpPr>
        <p:spPr>
          <a:xfrm>
            <a:off x="1234900" y="772159"/>
            <a:ext cx="10525299" cy="455061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US" sz="3600"/>
              <a:t>4. Working Principle</a:t>
            </a:r>
            <a:endParaRPr b="1"/>
          </a:p>
          <a:p>
            <a:pPr indent="0" lvl="0" marL="0" rtl="0" algn="just">
              <a:lnSpc>
                <a:spcPct val="100000"/>
              </a:lnSpc>
              <a:spcBef>
                <a:spcPts val="1000"/>
              </a:spcBef>
              <a:spcAft>
                <a:spcPts val="0"/>
              </a:spcAft>
              <a:buClr>
                <a:schemeClr val="dk1"/>
              </a:buClr>
              <a:buSzPts val="2400"/>
              <a:buNone/>
            </a:pPr>
            <a:r>
              <a:rPr lang="en-US"/>
              <a:t>The crane detects and picks up an object using its sensors and places it onto the conveyor belt. The conveyor belt transports the object to the vehicle, where sensors detect its arrival. The vehicle then pushes the object back to the crane’s starting position, after which the process repeats automatically in a closed-loop cycle.</a:t>
            </a:r>
            <a:endParaRPr/>
          </a:p>
          <a:p>
            <a:pPr indent="-190500" lvl="0" marL="342900" rtl="0" algn="l">
              <a:lnSpc>
                <a:spcPct val="100000"/>
              </a:lnSpc>
              <a:spcBef>
                <a:spcPts val="1000"/>
              </a:spcBef>
              <a:spcAft>
                <a:spcPts val="0"/>
              </a:spcAft>
              <a:buClr>
                <a:schemeClr val="dk1"/>
              </a:buClr>
              <a:buSzPts val="2400"/>
              <a:buFont typeface="Arial"/>
              <a:buNone/>
            </a:pPr>
            <a:r>
              <a:t/>
            </a:r>
            <a:endParaRPr/>
          </a:p>
        </p:txBody>
      </p:sp>
      <p:pic>
        <p:nvPicPr>
          <p:cNvPr id="123" name="Google Shape;123;p7"/>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idx="1" type="subTitle"/>
          </p:nvPr>
        </p:nvSpPr>
        <p:spPr>
          <a:xfrm>
            <a:off x="1234900" y="772159"/>
            <a:ext cx="10525299" cy="455061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US" sz="3600"/>
              <a:t>5. Expected Outcome</a:t>
            </a:r>
            <a:endParaRPr/>
          </a:p>
          <a:p>
            <a:pPr indent="0" lvl="0" marL="0" rtl="0" algn="just">
              <a:lnSpc>
                <a:spcPct val="90000"/>
              </a:lnSpc>
              <a:spcBef>
                <a:spcPts val="1000"/>
              </a:spcBef>
              <a:spcAft>
                <a:spcPts val="0"/>
              </a:spcAft>
              <a:buClr>
                <a:schemeClr val="dk1"/>
              </a:buClr>
              <a:buSzPts val="2400"/>
              <a:buNone/>
            </a:pPr>
            <a:r>
              <a:rPr lang="en-US"/>
              <a:t>A functional simulated prototype demonstrating an efficient, repeatable, and automated material transfer process, highlighting coordinated multi-robot operation suitable for industrial and logistics applications.</a:t>
            </a:r>
            <a:endParaRPr/>
          </a:p>
          <a:p>
            <a:pPr indent="0" lvl="0" marL="0" rtl="0" algn="l">
              <a:lnSpc>
                <a:spcPct val="100000"/>
              </a:lnSpc>
              <a:spcBef>
                <a:spcPts val="1000"/>
              </a:spcBef>
              <a:spcAft>
                <a:spcPts val="0"/>
              </a:spcAft>
              <a:buClr>
                <a:schemeClr val="dk1"/>
              </a:buClr>
              <a:buSzPts val="2400"/>
              <a:buNone/>
            </a:pPr>
            <a:r>
              <a:t/>
            </a:r>
            <a:endParaRPr/>
          </a:p>
        </p:txBody>
      </p:sp>
      <p:pic>
        <p:nvPicPr>
          <p:cNvPr id="129" name="Google Shape;129;p8"/>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idx="1" type="subTitle"/>
          </p:nvPr>
        </p:nvSpPr>
        <p:spPr>
          <a:xfrm>
            <a:off x="1234900" y="772159"/>
            <a:ext cx="10525299" cy="4550611"/>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2400"/>
              <a:buNone/>
            </a:pPr>
            <a:r>
              <a:t/>
            </a:r>
            <a:endParaRPr/>
          </a:p>
          <a:p>
            <a:pPr indent="0" lvl="0" marL="0" rtl="0" algn="ctr">
              <a:lnSpc>
                <a:spcPct val="100000"/>
              </a:lnSpc>
              <a:spcBef>
                <a:spcPts val="1000"/>
              </a:spcBef>
              <a:spcAft>
                <a:spcPts val="0"/>
              </a:spcAft>
              <a:buClr>
                <a:schemeClr val="dk1"/>
              </a:buClr>
              <a:buSzPts val="2400"/>
              <a:buNone/>
            </a:pPr>
            <a:r>
              <a:t/>
            </a:r>
            <a:endParaRPr/>
          </a:p>
          <a:p>
            <a:pPr indent="0" lvl="0" marL="0" rtl="0" algn="ctr">
              <a:lnSpc>
                <a:spcPct val="100000"/>
              </a:lnSpc>
              <a:spcBef>
                <a:spcPts val="1000"/>
              </a:spcBef>
              <a:spcAft>
                <a:spcPts val="0"/>
              </a:spcAft>
              <a:buClr>
                <a:schemeClr val="dk1"/>
              </a:buClr>
              <a:buSzPts val="2400"/>
              <a:buNone/>
            </a:pPr>
            <a:r>
              <a:t/>
            </a:r>
            <a:endParaRPr/>
          </a:p>
          <a:p>
            <a:pPr indent="0" lvl="0" marL="0" rtl="0" algn="ctr">
              <a:lnSpc>
                <a:spcPct val="100000"/>
              </a:lnSpc>
              <a:spcBef>
                <a:spcPts val="1000"/>
              </a:spcBef>
              <a:spcAft>
                <a:spcPts val="0"/>
              </a:spcAft>
              <a:buClr>
                <a:schemeClr val="dk1"/>
              </a:buClr>
              <a:buSzPts val="2400"/>
              <a:buNone/>
            </a:pPr>
            <a:r>
              <a:t/>
            </a:r>
            <a:endParaRPr/>
          </a:p>
          <a:p>
            <a:pPr indent="0" lvl="0" marL="0" rtl="0" algn="ctr">
              <a:lnSpc>
                <a:spcPct val="100000"/>
              </a:lnSpc>
              <a:spcBef>
                <a:spcPts val="1000"/>
              </a:spcBef>
              <a:spcAft>
                <a:spcPts val="0"/>
              </a:spcAft>
              <a:buClr>
                <a:schemeClr val="dk1"/>
              </a:buClr>
              <a:buSzPts val="6600"/>
              <a:buNone/>
            </a:pPr>
            <a:r>
              <a:rPr lang="en-US" sz="6600"/>
              <a:t>Thank you.</a:t>
            </a:r>
            <a:endParaRPr/>
          </a:p>
        </p:txBody>
      </p:sp>
      <p:pic>
        <p:nvPicPr>
          <p:cNvPr id="135" name="Google Shape;135;p9"/>
          <p:cNvPicPr preferRelativeResize="0"/>
          <p:nvPr/>
        </p:nvPicPr>
        <p:blipFill rotWithShape="1">
          <a:blip r:embed="rId3">
            <a:alphaModFix/>
          </a:blip>
          <a:srcRect b="0" l="0" r="0" t="0"/>
          <a:stretch/>
        </p:blipFill>
        <p:spPr>
          <a:xfrm>
            <a:off x="9443720" y="5410200"/>
            <a:ext cx="2748280" cy="1447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2026-02-06T07:36:38Z</dcterms:created>
  <dc:creator>HENRIETTA OKAFOR</dc:creator>
</cp:coreProperties>
</file>